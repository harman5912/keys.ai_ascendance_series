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134000</c:v>
                </c:pt>
                <c:pt idx="1">
                  <c:v>150080</c:v>
                </c:pt>
                <c:pt idx="2">
                  <c:v>162140</c:v>
                </c:pt>
                <c:pt idx="3">
                  <c:v>184920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140700</c:v>
                </c:pt>
                <c:pt idx="1">
                  <c:v>154100</c:v>
                </c:pt>
                <c:pt idx="2">
                  <c:v>174200</c:v>
                </c:pt>
                <c:pt idx="3">
                  <c:v>194300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9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1554480"/>
            <a:ext cx="10058400" cy="1828800"/>
          </a:xfrm>
        </p:spPr>
        <p:txBody>
          <a:bodyPr/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Q3 analytics review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22960"/>
            <a:ext cx="128016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9875520" cy="36576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C9A227"/>
                </a:solidFill>
                <a:latin typeface="Calibri"/>
              </a:rPr>
              <a:t>Q3 ANALYTICS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566160"/>
            <a:ext cx="9692640" cy="82296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C8CFDA"/>
                </a:solidFill>
                <a:latin typeface="Calibri"/>
              </a:rPr>
              <a:t>Northstar  ·  19 October 2026  ·  Headline metrics and decisions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806440"/>
            <a:ext cx="10058400" cy="32004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C97A8"/>
                </a:solidFill>
                <a:latin typeface="Calibri"/>
              </a:rPr>
              <a:t>Prepared 19 October 2026  ·  Northstar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058400" cy="822960"/>
          </a:xfrm>
        </p:spPr>
        <p:txBody>
          <a:bodyPr/>
          <a:lstStyle/>
          <a:p>
            <a:r>
              <a:rPr sz="2800" b="1">
                <a:solidFill>
                  <a:srgbClr val="101828"/>
                </a:solidFill>
                <a:latin typeface="Calibri"/>
              </a:rPr>
              <a:t>Headline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3856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5486400" cy="22860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E6878"/>
                </a:solidFill>
                <a:latin typeface="Calibri"/>
              </a:rPr>
              <a:t>02 / 08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058400" cy="13716"/>
          </a:xfrm>
          <a:prstGeom prst="rect">
            <a:avLst/>
          </a:prstGeom>
          <a:solidFill>
            <a:srgbClr val="D8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996696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161B25"/>
                </a:solidFill>
                <a:latin typeface="Calibri"/>
              </a:rPr>
              <a:t>—  Revenue $536,000.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Gross margin 64%.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Units 4,480.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309360" y="1691640"/>
          <a:ext cx="466344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989320"/>
            <a:ext cx="640080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Northstar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5989320"/>
            <a:ext cx="128016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058400" cy="822960"/>
          </a:xfrm>
        </p:spPr>
        <p:txBody>
          <a:bodyPr/>
          <a:lstStyle/>
          <a:p>
            <a:r>
              <a:rPr sz="2800" b="1">
                <a:solidFill>
                  <a:srgbClr val="101828"/>
                </a:solidFill>
                <a:latin typeface="Calibri"/>
              </a:rPr>
              <a:t>Acquisition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3856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5486400" cy="22860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E6878"/>
                </a:solidFill>
                <a:latin typeface="Calibri"/>
              </a:rPr>
              <a:t>03 / 08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058400" cy="13716"/>
          </a:xfrm>
          <a:prstGeom prst="rect">
            <a:avLst/>
          </a:prstGeom>
          <a:solidFill>
            <a:srgbClr val="D8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996696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161B25"/>
                </a:solidFill>
                <a:latin typeface="Calibri"/>
              </a:rPr>
              <a:t>—  New accounts up 15%.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Paid channels are the largest source.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Cost per activation is falling.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89320"/>
            <a:ext cx="640080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Northstar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5989320"/>
            <a:ext cx="128016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058400" cy="822960"/>
          </a:xfrm>
        </p:spPr>
        <p:txBody>
          <a:bodyPr/>
          <a:lstStyle/>
          <a:p>
            <a:r>
              <a:rPr sz="2800" b="1">
                <a:solidFill>
                  <a:srgbClr val="101828"/>
                </a:solidFill>
                <a:latin typeface="Calibri"/>
              </a:rPr>
              <a:t>Activation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3856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5486400" cy="22860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E6878"/>
                </a:solidFill>
                <a:latin typeface="Calibri"/>
              </a:rPr>
              <a:t>04 / 08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058400" cy="13716"/>
          </a:xfrm>
          <a:prstGeom prst="rect">
            <a:avLst/>
          </a:prstGeom>
          <a:solidFill>
            <a:srgbClr val="D8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996696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161B25"/>
                </a:solidFill>
                <a:latin typeface="Calibri"/>
              </a:rPr>
              <a:t>—  Activation is up six points.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The import flow remains the biggest drop-off.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A simplified import is in build.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89320"/>
            <a:ext cx="640080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Northstar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5989320"/>
            <a:ext cx="128016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058400" cy="822960"/>
          </a:xfrm>
        </p:spPr>
        <p:txBody>
          <a:bodyPr/>
          <a:lstStyle/>
          <a:p>
            <a:r>
              <a:rPr sz="2800" b="1">
                <a:solidFill>
                  <a:srgbClr val="101828"/>
                </a:solidFill>
                <a:latin typeface="Calibri"/>
              </a:rPr>
              <a:t>Retention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3856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5486400" cy="22860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E6878"/>
                </a:solidFill>
                <a:latin typeface="Calibri"/>
              </a:rPr>
              <a:t>05 / 08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058400" cy="13716"/>
          </a:xfrm>
          <a:prstGeom prst="rect">
            <a:avLst/>
          </a:prstGeom>
          <a:solidFill>
            <a:srgbClr val="D8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996696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161B25"/>
                </a:solidFill>
                <a:latin typeface="Calibri"/>
              </a:rPr>
              <a:t>—  Retention is flat quarter on quarter.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Power users stay; new teams stall at week three.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Onboarding is the next experiment.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89320"/>
            <a:ext cx="640080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Northstar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5989320"/>
            <a:ext cx="128016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058400" cy="822960"/>
          </a:xfrm>
        </p:spPr>
        <p:txBody>
          <a:bodyPr/>
          <a:lstStyle/>
          <a:p>
            <a:r>
              <a:rPr sz="2800" b="1">
                <a:solidFill>
                  <a:srgbClr val="101828"/>
                </a:solidFill>
                <a:latin typeface="Calibri"/>
              </a:rPr>
              <a:t>Revenue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3856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5486400" cy="22860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E6878"/>
                </a:solidFill>
                <a:latin typeface="Calibri"/>
              </a:rPr>
              <a:t>06 / 08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058400" cy="13716"/>
          </a:xfrm>
          <a:prstGeom prst="rect">
            <a:avLst/>
          </a:prstGeom>
          <a:solidFill>
            <a:srgbClr val="D8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996696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161B25"/>
                </a:solidFill>
                <a:latin typeface="Calibri"/>
              </a:rPr>
              <a:t>—  Expansion revenue added $38,800.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Churn is concentrated in the smallest tier.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Annual plans now cover 41% of revenue.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89320"/>
            <a:ext cx="640080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Northstar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5989320"/>
            <a:ext cx="128016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058400" cy="822960"/>
          </a:xfrm>
        </p:spPr>
        <p:txBody>
          <a:bodyPr/>
          <a:lstStyle/>
          <a:p>
            <a:r>
              <a:rPr sz="2800" b="1">
                <a:solidFill>
                  <a:srgbClr val="101828"/>
                </a:solidFill>
                <a:latin typeface="Calibri"/>
              </a:rPr>
              <a:t>Risks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3856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5486400" cy="22860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E6878"/>
                </a:solidFill>
                <a:latin typeface="Calibri"/>
              </a:rPr>
              <a:t>07 / 08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058400" cy="13716"/>
          </a:xfrm>
          <a:prstGeom prst="rect">
            <a:avLst/>
          </a:prstGeom>
          <a:solidFill>
            <a:srgbClr val="D8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996696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161B25"/>
                </a:solidFill>
                <a:latin typeface="Calibri"/>
              </a:rPr>
              <a:t>—  Support volume is up 18%.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Resolution time is outside target.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Hiring is the constraint on the fix.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89320"/>
            <a:ext cx="640080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Northstar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5989320"/>
            <a:ext cx="128016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058400" cy="822960"/>
          </a:xfrm>
        </p:spPr>
        <p:txBody>
          <a:bodyPr/>
          <a:lstStyle/>
          <a:p>
            <a:r>
              <a:rPr sz="2800" b="1">
                <a:solidFill>
                  <a:srgbClr val="101828"/>
                </a:solidFill>
                <a:latin typeface="Calibri"/>
              </a:rPr>
              <a:t>Recommendations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3856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5486400" cy="22860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E6878"/>
                </a:solidFill>
                <a:latin typeface="Calibri"/>
              </a:rPr>
              <a:t>08 / 08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058400" cy="13716"/>
          </a:xfrm>
          <a:prstGeom prst="rect">
            <a:avLst/>
          </a:prstGeom>
          <a:solidFill>
            <a:srgbClr val="D8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996696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161B25"/>
                </a:solidFill>
                <a:latin typeface="Calibri"/>
              </a:rPr>
              <a:t>—  Ship the import fix behind a flag.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Hold the pricing experiment until backlog clears.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Review again in four weeks.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89320"/>
            <a:ext cx="640080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Northstar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5989320"/>
            <a:ext cx="128016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