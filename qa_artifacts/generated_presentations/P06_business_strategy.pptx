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133075</c:v>
                </c:pt>
                <c:pt idx="1">
                  <c:v>149044</c:v>
                </c:pt>
                <c:pt idx="2">
                  <c:v>161020</c:v>
                </c:pt>
                <c:pt idx="3">
                  <c:v>183643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139728</c:v>
                </c:pt>
                <c:pt idx="1">
                  <c:v>153036</c:v>
                </c:pt>
                <c:pt idx="2">
                  <c:v>172997</c:v>
                </c:pt>
                <c:pt idx="3">
                  <c:v>192958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554480"/>
            <a:ext cx="10058400" cy="182880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Strategy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280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9875520" cy="36576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9A227"/>
                </a:solidFill>
                <a:latin typeface="Calibri"/>
              </a:rPr>
              <a:t>STRATEGY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9692640" cy="82296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8CFDA"/>
                </a:solidFill>
                <a:latin typeface="Calibri"/>
              </a:rPr>
              <a:t>Halcyon Logistics 2027  ·  19 October 2026  ·  Next financial 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058400" cy="32004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C97A8"/>
                </a:solidFill>
                <a:latin typeface="Calibri"/>
              </a:rPr>
              <a:t>Prepared 19 October 2026  ·  Halcyon Logistics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Situation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02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Volume is growing faster than margin.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The network is at 82% utilisation.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Service quality is the main constraint.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Halcyon Logistics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03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Grow revenue 18% without new sites.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Hold margin above 22%.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Improve on-time delivery to 96%.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Halcyon Logistics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Market trends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04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Customers consolidate to fewer partners.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Fuel and labour costs stay volatile.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Visibility is becoming a buying criterion.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1691640"/>
          <a:ext cx="46634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Halcyon Logistics 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Strategic pillars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05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Operational reliability.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Commercial discipline.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Digital visibility.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Halcyon Logistics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Initiatives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06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Network rebalancing.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Contract repricing.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Customer tracking portal.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Halcyon Logistics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KPIs and risks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07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On-time delivery, cost per drop, margin.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Risk: driver shortage.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Risk: a major contract renewal slips.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Halcyon Logistics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08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Quarter one: rebalancing.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Quarter two: repricing and portal pilot.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Quarter three: rollout and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Halcyon Logistics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